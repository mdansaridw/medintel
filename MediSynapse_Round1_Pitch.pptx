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in healthcare today, data is trapped in paper and rigid EHRs that cannot connect the dots. Doctors spend 2 hours documenting for every 1 hour with patients. We built MediSynapse: a platform that listens to clinical visits, populates an active knowledge graph in real time, predicts treatment intelligence, and prevents fatal drug errors.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Healthcare has two massive bottlenecks: doctors are overwhelmed by documentation, and patient data is trapped in isolated silos. When a doctor writes a prescription, the EHR doesn't check if the drug name sounds dangerously like another drug, nor does it check if the pharmacy has it in stock. That disconnect costs lives.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MediSynapse bridges this gap seamlessly: First, an on-device Ambient AI Scribe listens to the clinical consultation and generates a structured FHIR SOAP note. Second, our Security Vault de-identifies the patient under HIPAA Safe Harbor. Third, the data mutates an active Neo4j Knowledge Graph. Finally, our intelligence engine instantly checks for drug interactions, SALAD phonetic confusion, and pharmacy inventory.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security, we built a Two-Vault Cryptographic Architecture. All direct identifiers like names and SSNs are encrypted in a dedicated Identity Vault. The Neo4j Knowledge Graph contains zero PII—only anonymous tokens and clinical relationships. Even if our graph database is leaked, no patient can be identified. Furthermore, we replaced primitive RBAC with dynamic Attribute-Based Access Control (ABAC).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Knowledge Graph? Relational databases require dozens of expensive JOINs, and pure Vector databases are hallucination-prone black boxes. With Neo4j, we perform explainable multi-hop reasoning. We track longitudinal biomarker deltas—like changes in blood pressure and HbA1c—to mathematically score which medication produced the highest success rate for a specific patient cohort.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killer differentiator is proactive safety. During transcription, our engine runs phonetic and edit-distance algorithms to detect Sound-Alike Look-Alike Drugs (SALAD), preventing prescription mix-ups at the source. At the exact same second, it queries our supply chain graph to confirm pharmacy stock—eliminating treatment delays.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team of three, we decoupled our architecture from minute one using strict contract-first API design. Jerry owns the Ambient Scribe pipeline, DarkSider engineers the Neo4j Knowledge Graph and Cohort Similarity algorithms, and Parasu builds the Security Vault and modern UI. This modularity ensures zero development friction.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MediSynapse transforms healthcare data from an administrative burden into proactive, life-saving clinical intelligence.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3840480" cy="411480"/>
          </a:xfrm>
          <a:prstGeom prst="roundRect">
            <a:avLst/>
          </a:prstGeom>
          <a:solidFill>
            <a:srgbClr val="0F172A"/>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AI HACKATHON 2026 • ROUND 1 PITCH</a:t>
            </a:r>
          </a:p>
        </p:txBody>
      </p:sp>
      <p:sp>
        <p:nvSpPr>
          <p:cNvPr id="4" name="TextBox 3"/>
          <p:cNvSpPr txBox="1"/>
          <p:nvPr/>
        </p:nvSpPr>
        <p:spPr>
          <a:xfrm>
            <a:off x="731520" y="1828800"/>
            <a:ext cx="10515600" cy="1371600"/>
          </a:xfrm>
          <a:prstGeom prst="rect">
            <a:avLst/>
          </a:prstGeom>
          <a:noFill/>
        </p:spPr>
        <p:txBody>
          <a:bodyPr wrap="none">
            <a:spAutoFit/>
          </a:bodyPr>
          <a:lstStyle/>
          <a:p>
            <a:pPr>
              <a:defRPr sz="5400" b="1">
                <a:solidFill>
                  <a:srgbClr val="0F172A"/>
                </a:solidFill>
              </a:defRPr>
            </a:pPr>
            <a:r>
              <a:t>MediSynapse</a:t>
            </a:r>
          </a:p>
          <a:p>
            <a:pPr>
              <a:defRPr sz="2400" b="1">
                <a:solidFill>
                  <a:srgbClr val="1E293B"/>
                </a:solidFill>
              </a:defRPr>
            </a:pPr>
            <a:r>
              <a:t>Ambient Clinical Intelligence &amp; Knowledge Graph Platform</a:t>
            </a:r>
          </a:p>
          <a:p>
            <a:pPr>
              <a:defRPr sz="1400">
                <a:solidFill>
                  <a:srgbClr val="64748B"/>
                </a:solidFill>
              </a:defRPr>
            </a:pPr>
            <a:r>
              <a:t>Speech-to-Graph Mutation • Zero-Trust HIPAA Security • SALAD Safety • Supply Chain</a:t>
            </a:r>
          </a:p>
        </p:txBody>
      </p:sp>
      <p:sp>
        <p:nvSpPr>
          <p:cNvPr id="5" name="Rounded Rectangle 4"/>
          <p:cNvSpPr/>
          <p:nvPr/>
        </p:nvSpPr>
        <p:spPr>
          <a:xfrm>
            <a:off x="731520" y="4114800"/>
            <a:ext cx="3328416" cy="2011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4206240"/>
            <a:ext cx="2871216" cy="1828800"/>
          </a:xfrm>
          <a:prstGeom prst="rect">
            <a:avLst/>
          </a:prstGeom>
          <a:noFill/>
        </p:spPr>
        <p:txBody>
          <a:bodyPr wrap="square">
            <a:spAutoFit/>
          </a:bodyPr>
          <a:lstStyle/>
          <a:p>
            <a:pPr>
              <a:defRPr sz="1800" b="1">
                <a:solidFill>
                  <a:srgbClr val="0F172A"/>
                </a:solidFill>
              </a:defRPr>
            </a:pPr>
            <a:r>
              <a:t>DarkSider</a:t>
            </a:r>
          </a:p>
          <a:p>
            <a:pPr>
              <a:defRPr sz="1300" b="1">
                <a:solidFill>
                  <a:srgbClr val="475569"/>
                </a:solidFill>
              </a:defRPr>
            </a:pPr>
            <a:r>
              <a:t>Knowledge Graph &amp; AI</a:t>
            </a:r>
          </a:p>
          <a:p>
            <a:pPr>
              <a:defRPr sz="1100">
                <a:solidFill>
                  <a:srgbClr val="64748B"/>
                </a:solidFill>
              </a:defRPr>
            </a:pPr>
            <a:r>
              <a:t>Neo4j Aura, Vector Cohort Similarity, Treatment Intelligence &amp; Graph Schema</a:t>
            </a:r>
          </a:p>
        </p:txBody>
      </p:sp>
      <p:sp>
        <p:nvSpPr>
          <p:cNvPr id="7" name="Rounded Rectangle 6"/>
          <p:cNvSpPr/>
          <p:nvPr/>
        </p:nvSpPr>
        <p:spPr>
          <a:xfrm>
            <a:off x="4425696" y="4114800"/>
            <a:ext cx="3328416" cy="2011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4206240"/>
            <a:ext cx="2871216" cy="1828800"/>
          </a:xfrm>
          <a:prstGeom prst="rect">
            <a:avLst/>
          </a:prstGeom>
          <a:noFill/>
        </p:spPr>
        <p:txBody>
          <a:bodyPr wrap="square">
            <a:spAutoFit/>
          </a:bodyPr>
          <a:lstStyle/>
          <a:p>
            <a:pPr>
              <a:defRPr sz="1800" b="1">
                <a:solidFill>
                  <a:srgbClr val="0F172A"/>
                </a:solidFill>
              </a:defRPr>
            </a:pPr>
            <a:r>
              <a:t>Jerry</a:t>
            </a:r>
          </a:p>
          <a:p>
            <a:pPr>
              <a:defRPr sz="1300" b="1">
                <a:solidFill>
                  <a:srgbClr val="475569"/>
                </a:solidFill>
              </a:defRPr>
            </a:pPr>
            <a:r>
              <a:t>Ambient AI Scribe</a:t>
            </a:r>
          </a:p>
          <a:p>
            <a:pPr>
              <a:defRPr sz="1100">
                <a:solidFill>
                  <a:srgbClr val="64748B"/>
                </a:solidFill>
              </a:defRPr>
            </a:pPr>
            <a:r>
              <a:t>Local Speech-to-Text (Moonshine), Clinical NER, Structured SOAP Notes</a:t>
            </a:r>
          </a:p>
        </p:txBody>
      </p:sp>
      <p:sp>
        <p:nvSpPr>
          <p:cNvPr id="9" name="Rounded Rectangle 8"/>
          <p:cNvSpPr/>
          <p:nvPr/>
        </p:nvSpPr>
        <p:spPr>
          <a:xfrm>
            <a:off x="8119872" y="4114800"/>
            <a:ext cx="3328416" cy="20116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4206240"/>
            <a:ext cx="2871216" cy="1828800"/>
          </a:xfrm>
          <a:prstGeom prst="rect">
            <a:avLst/>
          </a:prstGeom>
          <a:noFill/>
        </p:spPr>
        <p:txBody>
          <a:bodyPr wrap="square">
            <a:spAutoFit/>
          </a:bodyPr>
          <a:lstStyle/>
          <a:p>
            <a:pPr>
              <a:defRPr sz="1800" b="1">
                <a:solidFill>
                  <a:srgbClr val="0F172A"/>
                </a:solidFill>
              </a:defRPr>
            </a:pPr>
            <a:r>
              <a:t>Parasu</a:t>
            </a:r>
          </a:p>
          <a:p>
            <a:pPr>
              <a:defRPr sz="1300" b="1">
                <a:solidFill>
                  <a:srgbClr val="475569"/>
                </a:solidFill>
              </a:defRPr>
            </a:pPr>
            <a:r>
              <a:t>Security &amp; Experience</a:t>
            </a:r>
          </a:p>
          <a:p>
            <a:pPr>
              <a:defRPr sz="1100">
                <a:solidFill>
                  <a:srgbClr val="64748B"/>
                </a:solidFill>
              </a:defRPr>
            </a:pPr>
            <a:r>
              <a:t>Zero-Trust PII Tokenizer Vault, Flask ABAC Middleware &amp; React UI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20040"/>
          </a:xfrm>
          <a:prstGeom prst="rect">
            <a:avLst/>
          </a:prstGeom>
          <a:noFill/>
        </p:spPr>
        <p:txBody>
          <a:bodyPr wrap="square">
            <a:spAutoFit/>
          </a:bodyPr>
          <a:lstStyle/>
          <a:p>
            <a:pPr>
              <a:defRPr sz="1100" b="1">
                <a:solidFill>
                  <a:srgbClr val="475569"/>
                </a:solidFill>
              </a:defRPr>
            </a:pPr>
            <a:r>
              <a:t>PROBLEM STATEMENT &amp; IMPACT</a:t>
            </a:r>
          </a:p>
        </p:txBody>
      </p:sp>
      <p:sp>
        <p:nvSpPr>
          <p:cNvPr id="4" name="TextBox 3"/>
          <p:cNvSpPr txBox="1"/>
          <p:nvPr/>
        </p:nvSpPr>
        <p:spPr>
          <a:xfrm>
            <a:off x="731520" y="777240"/>
            <a:ext cx="10515600" cy="640080"/>
          </a:xfrm>
          <a:prstGeom prst="rect">
            <a:avLst/>
          </a:prstGeom>
          <a:noFill/>
        </p:spPr>
        <p:txBody>
          <a:bodyPr wrap="square">
            <a:spAutoFit/>
          </a:bodyPr>
          <a:lstStyle/>
          <a:p>
            <a:pPr>
              <a:defRPr sz="2600" b="1">
                <a:solidFill>
                  <a:srgbClr val="0F172A"/>
                </a:solidFill>
              </a:defRPr>
            </a:pPr>
            <a:r>
              <a:t>Healthcare is Data-Rich but Insight-Blind</a:t>
            </a:r>
          </a:p>
        </p:txBody>
      </p:sp>
      <p:sp>
        <p:nvSpPr>
          <p:cNvPr id="5" name="Rounded Rectangle 4"/>
          <p:cNvSpPr/>
          <p:nvPr/>
        </p:nvSpPr>
        <p:spPr>
          <a:xfrm>
            <a:off x="731520"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2871216" cy="3657600"/>
          </a:xfrm>
          <a:prstGeom prst="rect">
            <a:avLst/>
          </a:prstGeom>
          <a:noFill/>
        </p:spPr>
        <p:txBody>
          <a:bodyPr wrap="square">
            <a:spAutoFit/>
          </a:bodyPr>
          <a:lstStyle/>
          <a:p>
            <a:pPr>
              <a:defRPr sz="3200" b="1">
                <a:solidFill>
                  <a:srgbClr val="0F172A"/>
                </a:solidFill>
              </a:defRPr>
            </a:pPr>
            <a:r>
              <a:t>01.</a:t>
            </a:r>
          </a:p>
          <a:p>
            <a:pPr>
              <a:defRPr sz="1800" b="1">
                <a:solidFill>
                  <a:srgbClr val="1E293B"/>
                </a:solidFill>
              </a:defRPr>
            </a:pPr>
            <a:r>
              <a:t>Physician Burnout &amp; Lost Time</a:t>
            </a:r>
          </a:p>
          <a:p>
            <a:br/>
            <a:pPr>
              <a:defRPr sz="1300">
                <a:solidFill>
                  <a:srgbClr val="64748B"/>
                </a:solidFill>
              </a:defRPr>
            </a:pPr>
            <a:r>
              <a:t>Doctors spend 2 hours on EHR documentation for every 1 hour of patient care. Crucial nuances in doctor-patient dialogue are lost in static text blobs.</a:t>
            </a:r>
          </a:p>
        </p:txBody>
      </p:sp>
      <p:sp>
        <p:nvSpPr>
          <p:cNvPr id="7" name="Rounded Rectangle 6"/>
          <p:cNvSpPr/>
          <p:nvPr/>
        </p:nvSpPr>
        <p:spPr>
          <a:xfrm>
            <a:off x="4425696"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2011680"/>
            <a:ext cx="2871216" cy="3657600"/>
          </a:xfrm>
          <a:prstGeom prst="rect">
            <a:avLst/>
          </a:prstGeom>
          <a:noFill/>
        </p:spPr>
        <p:txBody>
          <a:bodyPr wrap="square">
            <a:spAutoFit/>
          </a:bodyPr>
          <a:lstStyle/>
          <a:p>
            <a:pPr>
              <a:defRPr sz="3200" b="1">
                <a:solidFill>
                  <a:srgbClr val="0F172A"/>
                </a:solidFill>
              </a:defRPr>
            </a:pPr>
            <a:r>
              <a:t>02.</a:t>
            </a:r>
          </a:p>
          <a:p>
            <a:pPr>
              <a:defRPr sz="1800" b="1">
                <a:solidFill>
                  <a:srgbClr val="1E293B"/>
                </a:solidFill>
              </a:defRPr>
            </a:pPr>
            <a:r>
              <a:t>The 'SALAD' Medication Hazard</a:t>
            </a:r>
          </a:p>
          <a:p>
            <a:br/>
            <a:pPr>
              <a:defRPr sz="1300">
                <a:solidFill>
                  <a:srgbClr val="64748B"/>
                </a:solidFill>
              </a:defRPr>
            </a:pPr>
            <a:r>
              <a:t>Sound-Alike Look-Alike Drug confusions (e.g., Celebrex vs Celexa) cause over 1.5 million preventable injuries and fatal mix-ups annually.</a:t>
            </a:r>
          </a:p>
        </p:txBody>
      </p:sp>
      <p:sp>
        <p:nvSpPr>
          <p:cNvPr id="9" name="Rounded Rectangle 8"/>
          <p:cNvSpPr/>
          <p:nvPr/>
        </p:nvSpPr>
        <p:spPr>
          <a:xfrm>
            <a:off x="8119872"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2011680"/>
            <a:ext cx="2871216" cy="3657600"/>
          </a:xfrm>
          <a:prstGeom prst="rect">
            <a:avLst/>
          </a:prstGeom>
          <a:noFill/>
        </p:spPr>
        <p:txBody>
          <a:bodyPr wrap="square">
            <a:spAutoFit/>
          </a:bodyPr>
          <a:lstStyle/>
          <a:p>
            <a:pPr>
              <a:defRPr sz="3200" b="1">
                <a:solidFill>
                  <a:srgbClr val="0F172A"/>
                </a:solidFill>
              </a:defRPr>
            </a:pPr>
            <a:r>
              <a:t>03.</a:t>
            </a:r>
          </a:p>
          <a:p>
            <a:pPr>
              <a:defRPr sz="1800" b="1">
                <a:solidFill>
                  <a:srgbClr val="1E293B"/>
                </a:solidFill>
              </a:defRPr>
            </a:pPr>
            <a:r>
              <a:t>Prescription-Supply Disconnect</a:t>
            </a:r>
          </a:p>
          <a:p>
            <a:br/>
            <a:pPr>
              <a:defRPr sz="1300">
                <a:solidFill>
                  <a:srgbClr val="64748B"/>
                </a:solidFill>
              </a:defRPr>
            </a:pPr>
            <a:r>
              <a:t>Doctors prescribe treatments completely unaware of hospital pharmacy stockouts, causing critical treatment delays and inventory chaos.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20040"/>
          </a:xfrm>
          <a:prstGeom prst="rect">
            <a:avLst/>
          </a:prstGeom>
          <a:noFill/>
        </p:spPr>
        <p:txBody>
          <a:bodyPr wrap="square">
            <a:spAutoFit/>
          </a:bodyPr>
          <a:lstStyle/>
          <a:p>
            <a:pPr>
              <a:defRPr sz="1100" b="1">
                <a:solidFill>
                  <a:srgbClr val="475569"/>
                </a:solidFill>
              </a:defRPr>
            </a:pPr>
            <a:r>
              <a:t>THE INNOVATIVE SOLUTION</a:t>
            </a:r>
          </a:p>
        </p:txBody>
      </p:sp>
      <p:sp>
        <p:nvSpPr>
          <p:cNvPr id="4" name="TextBox 3"/>
          <p:cNvSpPr txBox="1"/>
          <p:nvPr/>
        </p:nvSpPr>
        <p:spPr>
          <a:xfrm>
            <a:off x="731520" y="777240"/>
            <a:ext cx="10515600" cy="640080"/>
          </a:xfrm>
          <a:prstGeom prst="rect">
            <a:avLst/>
          </a:prstGeom>
          <a:noFill/>
        </p:spPr>
        <p:txBody>
          <a:bodyPr wrap="square">
            <a:spAutoFit/>
          </a:bodyPr>
          <a:lstStyle/>
          <a:p>
            <a:pPr>
              <a:defRPr sz="2600" b="1">
                <a:solidFill>
                  <a:srgbClr val="0F172A"/>
                </a:solidFill>
              </a:defRPr>
            </a:pPr>
            <a:r>
              <a:t>MediSynapse: From Spoken Conversation to Graph Intelligence</a:t>
            </a:r>
          </a:p>
        </p:txBody>
      </p:sp>
      <p:sp>
        <p:nvSpPr>
          <p:cNvPr id="5" name="Rounded Rectangle 4"/>
          <p:cNvSpPr/>
          <p:nvPr/>
        </p:nvSpPr>
        <p:spPr>
          <a:xfrm>
            <a:off x="731520" y="1828800"/>
            <a:ext cx="246888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103120" cy="3657600"/>
          </a:xfrm>
          <a:prstGeom prst="rect">
            <a:avLst/>
          </a:prstGeom>
          <a:noFill/>
        </p:spPr>
        <p:txBody>
          <a:bodyPr wrap="square">
            <a:spAutoFit/>
          </a:bodyPr>
          <a:lstStyle/>
          <a:p>
            <a:pPr>
              <a:defRPr sz="1200" b="1">
                <a:solidFill>
                  <a:srgbClr val="0F172A"/>
                </a:solidFill>
              </a:defRPr>
            </a:pPr>
            <a:r>
              <a:t>PHASE 1</a:t>
            </a:r>
          </a:p>
          <a:p>
            <a:pPr>
              <a:defRPr sz="1600" b="1">
                <a:solidFill>
                  <a:srgbClr val="1E293B"/>
                </a:solidFill>
              </a:defRPr>
            </a:pPr>
            <a:r>
              <a:t>1. Ambient Scribe</a:t>
            </a:r>
          </a:p>
          <a:p>
            <a:br/>
            <a:pPr>
              <a:defRPr sz="1200">
                <a:solidFill>
                  <a:srgbClr val="64748B"/>
                </a:solidFill>
              </a:defRPr>
            </a:pPr>
            <a:r>
              <a:t>Listens to patient-doctor dialogue locally via Moonshine ASR. Generates structured FHIR SOAP notes.</a:t>
            </a:r>
          </a:p>
        </p:txBody>
      </p:sp>
      <p:sp>
        <p:nvSpPr>
          <p:cNvPr id="7" name="Rounded Rectangle 6"/>
          <p:cNvSpPr/>
          <p:nvPr/>
        </p:nvSpPr>
        <p:spPr>
          <a:xfrm>
            <a:off x="3474720" y="1828800"/>
            <a:ext cx="246888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2011680"/>
            <a:ext cx="2103120" cy="3657600"/>
          </a:xfrm>
          <a:prstGeom prst="rect">
            <a:avLst/>
          </a:prstGeom>
          <a:noFill/>
        </p:spPr>
        <p:txBody>
          <a:bodyPr wrap="square">
            <a:spAutoFit/>
          </a:bodyPr>
          <a:lstStyle/>
          <a:p>
            <a:pPr>
              <a:defRPr sz="1200" b="1">
                <a:solidFill>
                  <a:srgbClr val="0F172A"/>
                </a:solidFill>
              </a:defRPr>
            </a:pPr>
            <a:r>
              <a:t>PHASE 2</a:t>
            </a:r>
          </a:p>
          <a:p>
            <a:pPr>
              <a:defRPr sz="1600" b="1">
                <a:solidFill>
                  <a:srgbClr val="1E293B"/>
                </a:solidFill>
              </a:defRPr>
            </a:pPr>
            <a:r>
              <a:t>2. Two-Vault Security</a:t>
            </a:r>
          </a:p>
          <a:p>
            <a:br/>
            <a:pPr>
              <a:defRPr sz="1200">
                <a:solidFill>
                  <a:srgbClr val="64748B"/>
                </a:solidFill>
              </a:defRPr>
            </a:pPr>
            <a:r>
              <a:t>Cryptographically strips 18 HIPAA identifiers. Encrypts PII into Vault 1; sends anonymous tokens to Vault 2.</a:t>
            </a:r>
          </a:p>
        </p:txBody>
      </p:sp>
      <p:sp>
        <p:nvSpPr>
          <p:cNvPr id="9" name="Rounded Rectangle 8"/>
          <p:cNvSpPr/>
          <p:nvPr/>
        </p:nvSpPr>
        <p:spPr>
          <a:xfrm>
            <a:off x="6217920" y="1828800"/>
            <a:ext cx="246888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011680"/>
            <a:ext cx="2103120" cy="3657600"/>
          </a:xfrm>
          <a:prstGeom prst="rect">
            <a:avLst/>
          </a:prstGeom>
          <a:noFill/>
        </p:spPr>
        <p:txBody>
          <a:bodyPr wrap="square">
            <a:spAutoFit/>
          </a:bodyPr>
          <a:lstStyle/>
          <a:p>
            <a:pPr>
              <a:defRPr sz="1200" b="1">
                <a:solidFill>
                  <a:srgbClr val="0F172A"/>
                </a:solidFill>
              </a:defRPr>
            </a:pPr>
            <a:r>
              <a:t>PHASE 3</a:t>
            </a:r>
          </a:p>
          <a:p>
            <a:pPr>
              <a:defRPr sz="1600" b="1">
                <a:solidFill>
                  <a:srgbClr val="1E293B"/>
                </a:solidFill>
              </a:defRPr>
            </a:pPr>
            <a:r>
              <a:t>3. Neo4j Knowledge Graph</a:t>
            </a:r>
          </a:p>
          <a:p>
            <a:br/>
            <a:pPr>
              <a:defRPr sz="1200">
                <a:solidFill>
                  <a:srgbClr val="64748B"/>
                </a:solidFill>
              </a:defRPr>
            </a:pPr>
            <a:r>
              <a:t>Dynamically updates nodes and edges. Enables multi-hop clinical reasoning across patients, conditions, and drugs.</a:t>
            </a:r>
          </a:p>
        </p:txBody>
      </p:sp>
      <p:sp>
        <p:nvSpPr>
          <p:cNvPr id="11" name="Rounded Rectangle 10"/>
          <p:cNvSpPr/>
          <p:nvPr/>
        </p:nvSpPr>
        <p:spPr>
          <a:xfrm>
            <a:off x="8961120" y="1828800"/>
            <a:ext cx="246888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2011680"/>
            <a:ext cx="2103120" cy="3657600"/>
          </a:xfrm>
          <a:prstGeom prst="rect">
            <a:avLst/>
          </a:prstGeom>
          <a:noFill/>
        </p:spPr>
        <p:txBody>
          <a:bodyPr wrap="square">
            <a:spAutoFit/>
          </a:bodyPr>
          <a:lstStyle/>
          <a:p>
            <a:pPr>
              <a:defRPr sz="1200" b="1">
                <a:solidFill>
                  <a:srgbClr val="0F172A"/>
                </a:solidFill>
              </a:defRPr>
            </a:pPr>
            <a:r>
              <a:t>PHASE 4</a:t>
            </a:r>
          </a:p>
          <a:p>
            <a:pPr>
              <a:defRPr sz="1600" b="1">
                <a:solidFill>
                  <a:srgbClr val="1E293B"/>
                </a:solidFill>
              </a:defRPr>
            </a:pPr>
            <a:r>
              <a:t>4. Proactive Intelligence</a:t>
            </a:r>
          </a:p>
          <a:p>
            <a:br/>
            <a:pPr>
              <a:defRPr sz="1200">
                <a:solidFill>
                  <a:srgbClr val="64748B"/>
                </a:solidFill>
              </a:defRPr>
            </a:pPr>
            <a:r>
              <a:t>Predicts treatment efficacy from biomarker deltas, checks SALAD phonetic risks, and checks pharmacy stock in real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20040"/>
          </a:xfrm>
          <a:prstGeom prst="rect">
            <a:avLst/>
          </a:prstGeom>
          <a:noFill/>
        </p:spPr>
        <p:txBody>
          <a:bodyPr wrap="square">
            <a:spAutoFit/>
          </a:bodyPr>
          <a:lstStyle/>
          <a:p>
            <a:pPr>
              <a:defRPr sz="1100" b="1">
                <a:solidFill>
                  <a:srgbClr val="475569"/>
                </a:solidFill>
              </a:defRPr>
            </a:pPr>
            <a:r>
              <a:t>SECURITY ARCHITECTURE</a:t>
            </a:r>
          </a:p>
        </p:txBody>
      </p:sp>
      <p:sp>
        <p:nvSpPr>
          <p:cNvPr id="4" name="TextBox 3"/>
          <p:cNvSpPr txBox="1"/>
          <p:nvPr/>
        </p:nvSpPr>
        <p:spPr>
          <a:xfrm>
            <a:off x="731520" y="777240"/>
            <a:ext cx="10515600" cy="640080"/>
          </a:xfrm>
          <a:prstGeom prst="rect">
            <a:avLst/>
          </a:prstGeom>
          <a:noFill/>
        </p:spPr>
        <p:txBody>
          <a:bodyPr wrap="square">
            <a:spAutoFit/>
          </a:bodyPr>
          <a:lstStyle/>
          <a:p>
            <a:pPr>
              <a:defRPr sz="2600" b="1">
                <a:solidFill>
                  <a:srgbClr val="0F172A"/>
                </a:solidFill>
              </a:defRPr>
            </a:pPr>
            <a:r>
              <a:t>Zero-Trust Security &amp; Two-Vault HIPAA De-identification</a:t>
            </a:r>
          </a:p>
        </p:txBody>
      </p:sp>
      <p:sp>
        <p:nvSpPr>
          <p:cNvPr id="5" name="Rounded Rectangle 4"/>
          <p:cNvSpPr/>
          <p:nvPr/>
        </p:nvSpPr>
        <p:spPr>
          <a:xfrm>
            <a:off x="731520" y="1828800"/>
            <a:ext cx="512064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572000" cy="3657600"/>
          </a:xfrm>
          <a:prstGeom prst="rect">
            <a:avLst/>
          </a:prstGeom>
          <a:noFill/>
        </p:spPr>
        <p:txBody>
          <a:bodyPr wrap="square">
            <a:spAutoFit/>
          </a:bodyPr>
          <a:lstStyle/>
          <a:p>
            <a:pPr>
              <a:defRPr sz="1200" b="1">
                <a:solidFill>
                  <a:srgbClr val="475569"/>
                </a:solidFill>
              </a:defRPr>
            </a:pPr>
            <a:r>
              <a:t>VAULT 1: PII IDENTITY TOKENIZER</a:t>
            </a:r>
          </a:p>
          <a:p>
            <a:pPr>
              <a:defRPr sz="2000" b="1">
                <a:solidFill>
                  <a:srgbClr val="0F172A"/>
                </a:solidFill>
              </a:defRPr>
            </a:pPr>
            <a:r>
              <a:t>Encrypted Relational Storage</a:t>
            </a:r>
          </a:p>
          <a:p>
            <a:pPr>
              <a:defRPr sz="1200">
                <a:solidFill>
                  <a:srgbClr val="1E293B"/>
                </a:solidFill>
              </a:defRPr>
            </a:pPr>
            <a:r>
              <a:t>• Encrypted at rest via AES-256-GCM using isolated keys.</a:t>
            </a:r>
          </a:p>
          <a:p>
            <a:pPr>
              <a:defRPr sz="1200">
                <a:solidFill>
                  <a:srgbClr val="1E293B"/>
                </a:solidFill>
              </a:defRPr>
            </a:pPr>
            <a:r>
              <a:t>• Holds: Real Name, SSN, Phone, Exact Address, Date of Birth.</a:t>
            </a:r>
          </a:p>
          <a:p>
            <a:pPr>
              <a:defRPr sz="1200">
                <a:solidFill>
                  <a:srgbClr val="1E293B"/>
                </a:solidFill>
              </a:defRPr>
            </a:pPr>
            <a:r>
              <a:t>• Strips all 18 HIPAA Safe Harbor direct identifiers.</a:t>
            </a:r>
          </a:p>
          <a:p>
            <a:pPr>
              <a:defRPr sz="1200">
                <a:solidFill>
                  <a:srgbClr val="1E293B"/>
                </a:solidFill>
              </a:defRPr>
            </a:pPr>
            <a:r>
              <a:t>• Emits a one-way anonymous Token UUID (e.g. urn:uuid:7f3b4819).</a:t>
            </a:r>
          </a:p>
          <a:p>
            <a:pPr>
              <a:defRPr sz="1200">
                <a:solidFill>
                  <a:srgbClr val="1E293B"/>
                </a:solidFill>
              </a:defRPr>
            </a:pPr>
            <a:r>
              <a:t>• Re-identified in memory ONLY for authorized attending doctors.</a:t>
            </a:r>
          </a:p>
        </p:txBody>
      </p:sp>
      <p:sp>
        <p:nvSpPr>
          <p:cNvPr id="7" name="Rounded Rectangle 6"/>
          <p:cNvSpPr/>
          <p:nvPr/>
        </p:nvSpPr>
        <p:spPr>
          <a:xfrm>
            <a:off x="6217920" y="1828800"/>
            <a:ext cx="512064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572000" cy="3657600"/>
          </a:xfrm>
          <a:prstGeom prst="rect">
            <a:avLst/>
          </a:prstGeom>
          <a:noFill/>
        </p:spPr>
        <p:txBody>
          <a:bodyPr wrap="square">
            <a:spAutoFit/>
          </a:bodyPr>
          <a:lstStyle/>
          <a:p>
            <a:pPr>
              <a:defRPr sz="1200" b="1">
                <a:solidFill>
                  <a:srgbClr val="475569"/>
                </a:solidFill>
              </a:defRPr>
            </a:pPr>
            <a:r>
              <a:t>VAULT 2: DE-IDENTIFIED PHI GRAPH</a:t>
            </a:r>
          </a:p>
          <a:p>
            <a:pPr>
              <a:defRPr sz="2000" b="1">
                <a:solidFill>
                  <a:srgbClr val="0F172A"/>
                </a:solidFill>
              </a:defRPr>
            </a:pPr>
            <a:r>
              <a:t>Neo4j Knowledge Graph &amp; ABAC</a:t>
            </a:r>
          </a:p>
          <a:p>
            <a:pPr>
              <a:defRPr sz="1200">
                <a:solidFill>
                  <a:srgbClr val="1E293B"/>
                </a:solidFill>
              </a:defRPr>
            </a:pPr>
            <a:r>
              <a:t>• Zero Personal Identifiers: Graph only contains anonymous UUIDs.</a:t>
            </a:r>
          </a:p>
          <a:p>
            <a:pPr>
              <a:defRPr sz="1200">
                <a:solidFill>
                  <a:srgbClr val="1E293B"/>
                </a:solidFill>
              </a:defRPr>
            </a:pPr>
            <a:r>
              <a:t>• Graph Leak Proof: Even if DB is leaked, patient identity is impossible to recover.</a:t>
            </a:r>
          </a:p>
          <a:p>
            <a:pPr>
              <a:defRPr sz="1200">
                <a:solidFill>
                  <a:srgbClr val="1E293B"/>
                </a:solidFill>
              </a:defRPr>
            </a:pPr>
            <a:r>
              <a:t>• Attribute-Based Access Control (ABAC): Dynamic policies check Subject (Doctor Dept) vs Resource (Patient Care Team).</a:t>
            </a:r>
          </a:p>
          <a:p>
            <a:pPr>
              <a:defRPr sz="1200">
                <a:solidFill>
                  <a:srgbClr val="1E293B"/>
                </a:solidFill>
              </a:defRPr>
            </a:pPr>
            <a:r>
              <a:t>• Emergency 'Break-Glass': Allows instant override for trauma ER doctors with tamper-evident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20040"/>
          </a:xfrm>
          <a:prstGeom prst="rect">
            <a:avLst/>
          </a:prstGeom>
          <a:noFill/>
        </p:spPr>
        <p:txBody>
          <a:bodyPr wrap="square">
            <a:spAutoFit/>
          </a:bodyPr>
          <a:lstStyle/>
          <a:p>
            <a:pPr>
              <a:defRPr sz="1100" b="1">
                <a:solidFill>
                  <a:srgbClr val="475569"/>
                </a:solidFill>
              </a:defRPr>
            </a:pPr>
            <a:r>
              <a:t>TECHNICAL COMPLEXITY</a:t>
            </a:r>
          </a:p>
        </p:txBody>
      </p:sp>
      <p:sp>
        <p:nvSpPr>
          <p:cNvPr id="4" name="TextBox 3"/>
          <p:cNvSpPr txBox="1"/>
          <p:nvPr/>
        </p:nvSpPr>
        <p:spPr>
          <a:xfrm>
            <a:off x="731520" y="777240"/>
            <a:ext cx="10515600" cy="640080"/>
          </a:xfrm>
          <a:prstGeom prst="rect">
            <a:avLst/>
          </a:prstGeom>
          <a:noFill/>
        </p:spPr>
        <p:txBody>
          <a:bodyPr wrap="square">
            <a:spAutoFit/>
          </a:bodyPr>
          <a:lstStyle/>
          <a:p>
            <a:pPr>
              <a:defRPr sz="2600" b="1">
                <a:solidFill>
                  <a:srgbClr val="0F172A"/>
                </a:solidFill>
              </a:defRPr>
            </a:pPr>
            <a:r>
              <a:t>Clinical Knowledge Graph &amp; Treatment Intelligence</a:t>
            </a:r>
          </a:p>
        </p:txBody>
      </p:sp>
      <p:sp>
        <p:nvSpPr>
          <p:cNvPr id="5" name="Rounded Rectangle 4"/>
          <p:cNvSpPr/>
          <p:nvPr/>
        </p:nvSpPr>
        <p:spPr>
          <a:xfrm>
            <a:off x="731520"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2871216" cy="3657600"/>
          </a:xfrm>
          <a:prstGeom prst="rect">
            <a:avLst/>
          </a:prstGeom>
          <a:noFill/>
        </p:spPr>
        <p:txBody>
          <a:bodyPr wrap="square">
            <a:spAutoFit/>
          </a:bodyPr>
          <a:lstStyle/>
          <a:p>
            <a:pPr>
              <a:defRPr sz="1100" b="1">
                <a:solidFill>
                  <a:srgbClr val="475569"/>
                </a:solidFill>
              </a:defRPr>
            </a:pPr>
            <a:r>
              <a:t>WHY NEO4J BEATS VECTOR DBS</a:t>
            </a:r>
          </a:p>
          <a:p>
            <a:pPr>
              <a:defRPr sz="1800" b="1">
                <a:solidFill>
                  <a:srgbClr val="0F172A"/>
                </a:solidFill>
              </a:defRPr>
            </a:pPr>
            <a:r>
              <a:t>Multi-Hop Reasoning</a:t>
            </a:r>
          </a:p>
          <a:p>
            <a:br/>
            <a:pPr>
              <a:defRPr sz="1300">
                <a:solidFill>
                  <a:srgbClr val="64748B"/>
                </a:solidFill>
              </a:defRPr>
            </a:pPr>
            <a:r>
              <a:t>Traditional Vector DBs are black boxes that hallucinate dosages. Neo4j executes deterministic multi-hop traversals: Patient -&gt; Condition -&gt; Contraindicated Drug -&gt; Stocked Inventory.</a:t>
            </a:r>
          </a:p>
        </p:txBody>
      </p:sp>
      <p:sp>
        <p:nvSpPr>
          <p:cNvPr id="7" name="Rounded Rectangle 6"/>
          <p:cNvSpPr/>
          <p:nvPr/>
        </p:nvSpPr>
        <p:spPr>
          <a:xfrm>
            <a:off x="4425696"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2011680"/>
            <a:ext cx="2871216" cy="3657600"/>
          </a:xfrm>
          <a:prstGeom prst="rect">
            <a:avLst/>
          </a:prstGeom>
          <a:noFill/>
        </p:spPr>
        <p:txBody>
          <a:bodyPr wrap="square">
            <a:spAutoFit/>
          </a:bodyPr>
          <a:lstStyle/>
          <a:p>
            <a:pPr>
              <a:defRPr sz="1100" b="1">
                <a:solidFill>
                  <a:srgbClr val="475569"/>
                </a:solidFill>
              </a:defRPr>
            </a:pPr>
            <a:r>
              <a:t>MATHEMATICAL TREATMENT EFFICACY</a:t>
            </a:r>
          </a:p>
          <a:p>
            <a:pPr>
              <a:defRPr sz="1800" b="1">
                <a:solidFill>
                  <a:srgbClr val="0F172A"/>
                </a:solidFill>
              </a:defRPr>
            </a:pPr>
            <a:r>
              <a:t>Biomarker Delta Tracking</a:t>
            </a:r>
          </a:p>
          <a:p>
            <a:br/>
            <a:pPr>
              <a:defRPr sz="1300">
                <a:solidFill>
                  <a:srgbClr val="64748B"/>
                </a:solidFill>
              </a:defRPr>
            </a:pPr>
            <a:r>
              <a:t>Analyzes longitudinal lab observations (HbA1c, Blood Pressure) before and after medication. Computes actual delta scores to prove which drug resolved the condition.</a:t>
            </a:r>
          </a:p>
        </p:txBody>
      </p:sp>
      <p:sp>
        <p:nvSpPr>
          <p:cNvPr id="9" name="Rounded Rectangle 8"/>
          <p:cNvSpPr/>
          <p:nvPr/>
        </p:nvSpPr>
        <p:spPr>
          <a:xfrm>
            <a:off x="8119872"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2011680"/>
            <a:ext cx="2871216" cy="3657600"/>
          </a:xfrm>
          <a:prstGeom prst="rect">
            <a:avLst/>
          </a:prstGeom>
          <a:noFill/>
        </p:spPr>
        <p:txBody>
          <a:bodyPr wrap="square">
            <a:spAutoFit/>
          </a:bodyPr>
          <a:lstStyle/>
          <a:p>
            <a:pPr>
              <a:defRPr sz="1100" b="1">
                <a:solidFill>
                  <a:srgbClr val="475569"/>
                </a:solidFill>
              </a:defRPr>
            </a:pPr>
            <a:r>
              <a:t>GRAPH + VECTOR PATIENT SIMILARITY</a:t>
            </a:r>
          </a:p>
          <a:p>
            <a:pPr>
              <a:defRPr sz="1800" b="1">
                <a:solidFill>
                  <a:srgbClr val="0F172A"/>
                </a:solidFill>
              </a:defRPr>
            </a:pPr>
            <a:r>
              <a:t>Hybrid Cohort Matching</a:t>
            </a:r>
          </a:p>
          <a:p>
            <a:br/>
            <a:pPr>
              <a:defRPr sz="1300">
                <a:solidFill>
                  <a:srgbClr val="64748B"/>
                </a:solidFill>
              </a:defRPr>
            </a:pPr>
            <a:r>
              <a:t>Combines biological demographic vectors (age, gender) with graph topological overlap to discover twin patient cohorts and treatment success trajectories.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20040"/>
          </a:xfrm>
          <a:prstGeom prst="rect">
            <a:avLst/>
          </a:prstGeom>
          <a:noFill/>
        </p:spPr>
        <p:txBody>
          <a:bodyPr wrap="square">
            <a:spAutoFit/>
          </a:bodyPr>
          <a:lstStyle/>
          <a:p>
            <a:pPr>
              <a:defRPr sz="1100" b="1">
                <a:solidFill>
                  <a:srgbClr val="475569"/>
                </a:solidFill>
              </a:defRPr>
            </a:pPr>
            <a:r>
              <a:t>SAFETY INNOVATION</a:t>
            </a:r>
          </a:p>
        </p:txBody>
      </p:sp>
      <p:sp>
        <p:nvSpPr>
          <p:cNvPr id="4" name="TextBox 3"/>
          <p:cNvSpPr txBox="1"/>
          <p:nvPr/>
        </p:nvSpPr>
        <p:spPr>
          <a:xfrm>
            <a:off x="731520" y="777240"/>
            <a:ext cx="10515600" cy="640080"/>
          </a:xfrm>
          <a:prstGeom prst="rect">
            <a:avLst/>
          </a:prstGeom>
          <a:noFill/>
        </p:spPr>
        <p:txBody>
          <a:bodyPr wrap="square">
            <a:spAutoFit/>
          </a:bodyPr>
          <a:lstStyle/>
          <a:p>
            <a:pPr>
              <a:defRPr sz="2600" b="1">
                <a:solidFill>
                  <a:srgbClr val="0F172A"/>
                </a:solidFill>
              </a:defRPr>
            </a:pPr>
            <a:r>
              <a:t>Proactive Safeguards: SALAD Errors &amp; Supply Chain</a:t>
            </a:r>
          </a:p>
        </p:txBody>
      </p:sp>
      <p:sp>
        <p:nvSpPr>
          <p:cNvPr id="5" name="Rounded Rectangle 4"/>
          <p:cNvSpPr/>
          <p:nvPr/>
        </p:nvSpPr>
        <p:spPr>
          <a:xfrm>
            <a:off x="731520" y="1828800"/>
            <a:ext cx="512064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572000" cy="3657600"/>
          </a:xfrm>
          <a:prstGeom prst="rect">
            <a:avLst/>
          </a:prstGeom>
          <a:noFill/>
        </p:spPr>
        <p:txBody>
          <a:bodyPr wrap="square">
            <a:spAutoFit/>
          </a:bodyPr>
          <a:lstStyle/>
          <a:p>
            <a:pPr>
              <a:defRPr sz="1200" b="1">
                <a:solidFill>
                  <a:srgbClr val="475569"/>
                </a:solidFill>
              </a:defRPr>
            </a:pPr>
            <a:r>
              <a:t>MEDICATION SAFETY ENGINE</a:t>
            </a:r>
          </a:p>
          <a:p>
            <a:pPr>
              <a:defRPr sz="2000" b="1">
                <a:solidFill>
                  <a:srgbClr val="0F172A"/>
                </a:solidFill>
              </a:defRPr>
            </a:pPr>
            <a:r>
              <a:t>SALAD Drug Error Prevention</a:t>
            </a:r>
          </a:p>
          <a:p>
            <a:pPr>
              <a:defRPr sz="1200">
                <a:solidFill>
                  <a:srgbClr val="1E293B"/>
                </a:solidFill>
              </a:defRPr>
            </a:pPr>
            <a:r>
              <a:t>• ISMP Sound-Alike Look-Alike Drug database integration.</a:t>
            </a:r>
          </a:p>
          <a:p>
            <a:pPr>
              <a:defRPr sz="1200">
                <a:solidFill>
                  <a:srgbClr val="1E293B"/>
                </a:solidFill>
              </a:defRPr>
            </a:pPr>
            <a:r>
              <a:t>• Double Metaphone Algorithm: Converts spoken drug names into phonetic keys to catch auditory prescribing confusion.</a:t>
            </a:r>
          </a:p>
          <a:p>
            <a:pPr>
              <a:defRPr sz="1200">
                <a:solidFill>
                  <a:srgbClr val="1E293B"/>
                </a:solidFill>
              </a:defRPr>
            </a:pPr>
            <a:r>
              <a:t>• Normalized Levenshtein Distance: Scans visual orthographic similarity against formulary.</a:t>
            </a:r>
          </a:p>
          <a:p>
            <a:pPr>
              <a:defRPr sz="1200">
                <a:solidFill>
                  <a:srgbClr val="1E293B"/>
                </a:solidFill>
              </a:defRPr>
            </a:pPr>
            <a:r>
              <a:t>• Real-Time Alert: Warns when Celebrex (NSAID) might be confused with Celexa (Antidepressant) during verbal order.</a:t>
            </a:r>
          </a:p>
        </p:txBody>
      </p:sp>
      <p:sp>
        <p:nvSpPr>
          <p:cNvPr id="7" name="Rounded Rectangle 6"/>
          <p:cNvSpPr/>
          <p:nvPr/>
        </p:nvSpPr>
        <p:spPr>
          <a:xfrm>
            <a:off x="6217920" y="1828800"/>
            <a:ext cx="512064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572000" cy="3657600"/>
          </a:xfrm>
          <a:prstGeom prst="rect">
            <a:avLst/>
          </a:prstGeom>
          <a:noFill/>
        </p:spPr>
        <p:txBody>
          <a:bodyPr wrap="square">
            <a:spAutoFit/>
          </a:bodyPr>
          <a:lstStyle/>
          <a:p>
            <a:pPr>
              <a:defRPr sz="1200" b="1">
                <a:solidFill>
                  <a:srgbClr val="475569"/>
                </a:solidFill>
              </a:defRPr>
            </a:pPr>
            <a:r>
              <a:t>HOSPITAL PHARMACY GRAPH</a:t>
            </a:r>
          </a:p>
          <a:p>
            <a:pPr>
              <a:defRPr sz="2000" b="1">
                <a:solidFill>
                  <a:srgbClr val="0F172A"/>
                </a:solidFill>
              </a:defRPr>
            </a:pPr>
            <a:r>
              <a:t>Supply Chain &amp; Stock Verification</a:t>
            </a:r>
          </a:p>
          <a:p>
            <a:pPr>
              <a:defRPr sz="1200">
                <a:solidFill>
                  <a:srgbClr val="1E293B"/>
                </a:solidFill>
              </a:defRPr>
            </a:pPr>
            <a:r>
              <a:t>• Dynamic Supply Nodes: Links (:Medication) directly to (:PharmacyInventory) and (:SupplyItem).</a:t>
            </a:r>
          </a:p>
          <a:p>
            <a:pPr>
              <a:defRPr sz="1200">
                <a:solidFill>
                  <a:srgbClr val="1E293B"/>
                </a:solidFill>
              </a:defRPr>
            </a:pPr>
            <a:r>
              <a:t>• Point-of-Care Stock Check: Automatically validates if drug is in stock at the exact moment of prescription.</a:t>
            </a:r>
          </a:p>
          <a:p>
            <a:pPr>
              <a:defRPr sz="1200">
                <a:solidFill>
                  <a:srgbClr val="1E293B"/>
                </a:solidFill>
              </a:defRPr>
            </a:pPr>
            <a:r>
              <a:t>• Shortage Alternatives: If stock is below threshold, graph traverses therapeutic class to suggest in-stock equivalent.</a:t>
            </a:r>
          </a:p>
          <a:p>
            <a:pPr>
              <a:defRPr sz="1200">
                <a:solidFill>
                  <a:srgbClr val="1E293B"/>
                </a:solidFill>
              </a:defRPr>
            </a:pPr>
            <a:r>
              <a:t>• Instant Batch Recall: Traverses graph to identify all patients who received a tainted medication lot in one query.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20040"/>
          </a:xfrm>
          <a:prstGeom prst="rect">
            <a:avLst/>
          </a:prstGeom>
          <a:noFill/>
        </p:spPr>
        <p:txBody>
          <a:bodyPr wrap="square">
            <a:spAutoFit/>
          </a:bodyPr>
          <a:lstStyle/>
          <a:p>
            <a:pPr>
              <a:defRPr sz="1100" b="1">
                <a:solidFill>
                  <a:srgbClr val="475569"/>
                </a:solidFill>
              </a:defRPr>
            </a:pPr>
            <a:r>
              <a:t>TEAMWORK &amp; ENGINEERING DISCIPLINE</a:t>
            </a:r>
          </a:p>
        </p:txBody>
      </p:sp>
      <p:sp>
        <p:nvSpPr>
          <p:cNvPr id="4" name="TextBox 3"/>
          <p:cNvSpPr txBox="1"/>
          <p:nvPr/>
        </p:nvSpPr>
        <p:spPr>
          <a:xfrm>
            <a:off x="731520" y="777240"/>
            <a:ext cx="10515600" cy="640080"/>
          </a:xfrm>
          <a:prstGeom prst="rect">
            <a:avLst/>
          </a:prstGeom>
          <a:noFill/>
        </p:spPr>
        <p:txBody>
          <a:bodyPr wrap="square">
            <a:spAutoFit/>
          </a:bodyPr>
          <a:lstStyle/>
          <a:p>
            <a:pPr>
              <a:defRPr sz="2600" b="1">
                <a:solidFill>
                  <a:srgbClr val="0F172A"/>
                </a:solidFill>
              </a:defRPr>
            </a:pPr>
            <a:r>
              <a:t>Execution Plan &amp; Conflict-Free Collaboration</a:t>
            </a:r>
          </a:p>
        </p:txBody>
      </p:sp>
      <p:sp>
        <p:nvSpPr>
          <p:cNvPr id="5" name="Rounded Rectangle 4"/>
          <p:cNvSpPr/>
          <p:nvPr/>
        </p:nvSpPr>
        <p:spPr>
          <a:xfrm>
            <a:off x="731520"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2871216" cy="3657600"/>
          </a:xfrm>
          <a:prstGeom prst="rect">
            <a:avLst/>
          </a:prstGeom>
          <a:noFill/>
        </p:spPr>
        <p:txBody>
          <a:bodyPr wrap="square">
            <a:spAutoFit/>
          </a:bodyPr>
          <a:lstStyle/>
          <a:p>
            <a:pPr>
              <a:defRPr sz="2000" b="1">
                <a:solidFill>
                  <a:srgbClr val="0F172A"/>
                </a:solidFill>
              </a:defRPr>
            </a:pPr>
            <a:r>
              <a:t>DarkSider</a:t>
            </a:r>
          </a:p>
          <a:p>
            <a:pPr>
              <a:defRPr sz="1300" b="1">
                <a:solidFill>
                  <a:srgbClr val="475569"/>
                </a:solidFill>
              </a:defRPr>
            </a:pPr>
            <a:r>
              <a:t>Graph &amp; AI Architect</a:t>
            </a:r>
          </a:p>
          <a:p/>
          <a:p>
            <a:pPr>
              <a:defRPr sz="1100">
                <a:solidFill>
                  <a:srgbClr val="1E293B"/>
                </a:solidFill>
              </a:defRPr>
            </a:pPr>
            <a:r>
              <a:t>• Neo4j Aura Cloud DB integration</a:t>
            </a:r>
          </a:p>
          <a:p>
            <a:pPr>
              <a:defRPr sz="1100">
                <a:solidFill>
                  <a:srgbClr val="1E293B"/>
                </a:solidFill>
              </a:defRPr>
            </a:pPr>
            <a:r>
              <a:t>• Synthea CSV-to-Graph ETL pipeline</a:t>
            </a:r>
          </a:p>
          <a:p>
            <a:pPr>
              <a:defRPr sz="1100">
                <a:solidFill>
                  <a:srgbClr val="1E293B"/>
                </a:solidFill>
              </a:defRPr>
            </a:pPr>
            <a:r>
              <a:t>• Vector Cohort Similarity engine</a:t>
            </a:r>
          </a:p>
          <a:p>
            <a:pPr>
              <a:defRPr sz="1100">
                <a:solidFill>
                  <a:srgbClr val="1E293B"/>
                </a:solidFill>
              </a:defRPr>
            </a:pPr>
            <a:r>
              <a:t>• Treatment outcome analytics</a:t>
            </a:r>
          </a:p>
          <a:p>
            <a:pPr>
              <a:defRPr sz="1100">
                <a:solidFill>
                  <a:srgbClr val="1E293B"/>
                </a:solidFill>
              </a:defRPr>
            </a:pPr>
            <a:r>
              <a:t>• Cypher query optimization</a:t>
            </a:r>
          </a:p>
        </p:txBody>
      </p:sp>
      <p:sp>
        <p:nvSpPr>
          <p:cNvPr id="7" name="Rounded Rectangle 6"/>
          <p:cNvSpPr/>
          <p:nvPr/>
        </p:nvSpPr>
        <p:spPr>
          <a:xfrm>
            <a:off x="4425696"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2011680"/>
            <a:ext cx="2871216" cy="3657600"/>
          </a:xfrm>
          <a:prstGeom prst="rect">
            <a:avLst/>
          </a:prstGeom>
          <a:noFill/>
        </p:spPr>
        <p:txBody>
          <a:bodyPr wrap="square">
            <a:spAutoFit/>
          </a:bodyPr>
          <a:lstStyle/>
          <a:p>
            <a:pPr>
              <a:defRPr sz="2000" b="1">
                <a:solidFill>
                  <a:srgbClr val="0F172A"/>
                </a:solidFill>
              </a:defRPr>
            </a:pPr>
            <a:r>
              <a:t>Jerry</a:t>
            </a:r>
          </a:p>
          <a:p>
            <a:pPr>
              <a:defRPr sz="1300" b="1">
                <a:solidFill>
                  <a:srgbClr val="475569"/>
                </a:solidFill>
              </a:defRPr>
            </a:pPr>
            <a:r>
              <a:t>Ambient Scribe Engineer</a:t>
            </a:r>
          </a:p>
          <a:p/>
          <a:p>
            <a:pPr>
              <a:defRPr sz="1100">
                <a:solidFill>
                  <a:srgbClr val="1E293B"/>
                </a:solidFill>
              </a:defRPr>
            </a:pPr>
            <a:r>
              <a:t>• On-device Moonshine ASR pipeline</a:t>
            </a:r>
          </a:p>
          <a:p>
            <a:pPr>
              <a:defRPr sz="1100">
                <a:solidFill>
                  <a:srgbClr val="1E293B"/>
                </a:solidFill>
              </a:defRPr>
            </a:pPr>
            <a:r>
              <a:t>• Audio stream capture &amp; noise filter</a:t>
            </a:r>
          </a:p>
          <a:p>
            <a:pPr>
              <a:defRPr sz="1100">
                <a:solidFill>
                  <a:srgbClr val="1E293B"/>
                </a:solidFill>
              </a:defRPr>
            </a:pPr>
            <a:r>
              <a:t>• Clinical NER &amp; SOAP extraction</a:t>
            </a:r>
          </a:p>
          <a:p>
            <a:pPr>
              <a:defRPr sz="1100">
                <a:solidFill>
                  <a:srgbClr val="1E293B"/>
                </a:solidFill>
              </a:defRPr>
            </a:pPr>
            <a:r>
              <a:t>• FHIR R4 JSON bundle generation</a:t>
            </a:r>
          </a:p>
          <a:p>
            <a:pPr>
              <a:defRPr sz="1100">
                <a:solidFill>
                  <a:srgbClr val="1E293B"/>
                </a:solidFill>
              </a:defRPr>
            </a:pPr>
            <a:r>
              <a:t>• Real-time speech transcription UI</a:t>
            </a:r>
          </a:p>
        </p:txBody>
      </p:sp>
      <p:sp>
        <p:nvSpPr>
          <p:cNvPr id="9" name="Rounded Rectangle 8"/>
          <p:cNvSpPr/>
          <p:nvPr/>
        </p:nvSpPr>
        <p:spPr>
          <a:xfrm>
            <a:off x="8119872" y="1828800"/>
            <a:ext cx="3328416"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2011680"/>
            <a:ext cx="2871216" cy="3657600"/>
          </a:xfrm>
          <a:prstGeom prst="rect">
            <a:avLst/>
          </a:prstGeom>
          <a:noFill/>
        </p:spPr>
        <p:txBody>
          <a:bodyPr wrap="square">
            <a:spAutoFit/>
          </a:bodyPr>
          <a:lstStyle/>
          <a:p>
            <a:pPr>
              <a:defRPr sz="2000" b="1">
                <a:solidFill>
                  <a:srgbClr val="0F172A"/>
                </a:solidFill>
              </a:defRPr>
            </a:pPr>
            <a:r>
              <a:t>Parasu</a:t>
            </a:r>
          </a:p>
          <a:p>
            <a:pPr>
              <a:defRPr sz="1300" b="1">
                <a:solidFill>
                  <a:srgbClr val="475569"/>
                </a:solidFill>
              </a:defRPr>
            </a:pPr>
            <a:r>
              <a:t>Security &amp; Frontend Lead</a:t>
            </a:r>
          </a:p>
          <a:p/>
          <a:p>
            <a:pPr>
              <a:defRPr sz="1100">
                <a:solidFill>
                  <a:srgbClr val="1E293B"/>
                </a:solidFill>
              </a:defRPr>
            </a:pPr>
            <a:r>
              <a:t>• Two-Vault AES-256 PII Tokenizer</a:t>
            </a:r>
          </a:p>
          <a:p>
            <a:pPr>
              <a:defRPr sz="1100">
                <a:solidFill>
                  <a:srgbClr val="1E293B"/>
                </a:solidFill>
              </a:defRPr>
            </a:pPr>
            <a:r>
              <a:t>• Flask ABAC Policy Middleware</a:t>
            </a:r>
          </a:p>
          <a:p>
            <a:pPr>
              <a:defRPr sz="1100">
                <a:solidFill>
                  <a:srgbClr val="1E293B"/>
                </a:solidFill>
              </a:defRPr>
            </a:pPr>
            <a:r>
              <a:t>• Emergency Break-Glass audit logging</a:t>
            </a:r>
          </a:p>
          <a:p>
            <a:pPr>
              <a:defRPr sz="1100">
                <a:solidFill>
                  <a:srgbClr val="1E293B"/>
                </a:solidFill>
              </a:defRPr>
            </a:pPr>
            <a:r>
              <a:t>• Interactive React Force Graph UI</a:t>
            </a:r>
          </a:p>
          <a:p>
            <a:pPr>
              <a:defRPr sz="1100">
                <a:solidFill>
                  <a:srgbClr val="1E293B"/>
                </a:solidFill>
              </a:defRPr>
            </a:pPr>
            <a:r>
              <a:t>• Clinical alert toast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20040"/>
          </a:xfrm>
          <a:prstGeom prst="rect">
            <a:avLst/>
          </a:prstGeom>
          <a:noFill/>
        </p:spPr>
        <p:txBody>
          <a:bodyPr wrap="square">
            <a:spAutoFit/>
          </a:bodyPr>
          <a:lstStyle/>
          <a:p>
            <a:pPr>
              <a:defRPr sz="1100" b="1">
                <a:solidFill>
                  <a:srgbClr val="475569"/>
                </a:solidFill>
              </a:defRPr>
            </a:pPr>
            <a:r>
              <a:t>CLOSING &amp; VISION</a:t>
            </a:r>
          </a:p>
        </p:txBody>
      </p:sp>
      <p:sp>
        <p:nvSpPr>
          <p:cNvPr id="4" name="TextBox 3"/>
          <p:cNvSpPr txBox="1"/>
          <p:nvPr/>
        </p:nvSpPr>
        <p:spPr>
          <a:xfrm>
            <a:off x="731520" y="777240"/>
            <a:ext cx="10515600" cy="640080"/>
          </a:xfrm>
          <a:prstGeom prst="rect">
            <a:avLst/>
          </a:prstGeom>
          <a:noFill/>
        </p:spPr>
        <p:txBody>
          <a:bodyPr wrap="square">
            <a:spAutoFit/>
          </a:bodyPr>
          <a:lstStyle/>
          <a:p>
            <a:pPr>
              <a:defRPr sz="2600" b="1">
                <a:solidFill>
                  <a:srgbClr val="0F172A"/>
                </a:solidFill>
              </a:defRPr>
            </a:pPr>
            <a:r>
              <a:t>Summary: The Impact of MediSynapse</a:t>
            </a:r>
          </a:p>
        </p:txBody>
      </p:sp>
      <p:sp>
        <p:nvSpPr>
          <p:cNvPr id="5" name="Rounded Rectangle 4"/>
          <p:cNvSpPr/>
          <p:nvPr/>
        </p:nvSpPr>
        <p:spPr>
          <a:xfrm>
            <a:off x="731520" y="1828800"/>
            <a:ext cx="10607040" cy="4114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03120"/>
            <a:ext cx="9875520" cy="3657600"/>
          </a:xfrm>
          <a:prstGeom prst="rect">
            <a:avLst/>
          </a:prstGeom>
          <a:noFill/>
        </p:spPr>
        <p:txBody>
          <a:bodyPr wrap="square">
            <a:spAutoFit/>
          </a:bodyPr>
          <a:lstStyle/>
          <a:p>
            <a:pPr>
              <a:defRPr sz="2400" b="1">
                <a:solidFill>
                  <a:srgbClr val="0F172A"/>
                </a:solidFill>
              </a:defRPr>
            </a:pPr>
            <a:r>
              <a:t>Transforming Healthcare from Reactive Documentation to Proactive Intelligence</a:t>
            </a:r>
          </a:p>
          <a:p/>
          <a:p>
            <a:pPr>
              <a:defRPr sz="1300">
                <a:solidFill>
                  <a:srgbClr val="1E293B"/>
                </a:solidFill>
              </a:defRPr>
            </a:pPr>
            <a:r>
              <a:t>• Saves 2+ Hours Daily per Clinician: Ambient on-device scribing eliminates clerical burnout and lets doctors focus on patient care.</a:t>
            </a:r>
          </a:p>
          <a:p>
            <a:pPr>
              <a:defRPr sz="1300">
                <a:solidFill>
                  <a:srgbClr val="1E293B"/>
                </a:solidFill>
              </a:defRPr>
            </a:pPr>
            <a:r>
              <a:t>• Proactive Safety Shield: Phonetic and orthographic SALAD checks prevent fatal medication mix-ups at the moment of prescription.</a:t>
            </a:r>
          </a:p>
          <a:p>
            <a:pPr>
              <a:defRPr sz="1300">
                <a:solidFill>
                  <a:srgbClr val="1E293B"/>
                </a:solidFill>
              </a:defRPr>
            </a:pPr>
            <a:r>
              <a:t>• Explainable Treatment Intelligence: Longitudinal biomarker deltas in Neo4j replace black-box models with deterministic clinical evidence.</a:t>
            </a:r>
          </a:p>
          <a:p>
            <a:pPr>
              <a:defRPr sz="1300">
                <a:solidFill>
                  <a:srgbClr val="1E293B"/>
                </a:solidFill>
              </a:defRPr>
            </a:pPr>
            <a:r>
              <a:t>• Zero-Trust HIPAA Compliance: Two-Vault cryptographic isolation ensures zero patient PII ever enters the analytical knowledge graph.</a:t>
            </a:r>
          </a:p>
          <a:p>
            <a:pPr>
              <a:defRPr sz="1300">
                <a:solidFill>
                  <a:srgbClr val="1E293B"/>
                </a:solidFill>
              </a:defRPr>
            </a:pPr>
            <a:r>
              <a:t>• Connected Supply Chain: Live inventory integration prevents pharmacy stockouts and accelerates treatment delivery.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